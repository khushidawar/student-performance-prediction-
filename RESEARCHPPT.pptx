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81" r:id="rId5"/>
    <p:sldId id="257" r:id="rId6"/>
    <p:sldId id="270" r:id="rId7"/>
    <p:sldId id="271" r:id="rId8"/>
    <p:sldId id="272" r:id="rId9"/>
    <p:sldId id="273" r:id="rId10"/>
    <p:sldId id="278" r:id="rId11"/>
    <p:sldId id="276" r:id="rId12"/>
    <p:sldId id="280" r:id="rId13"/>
    <p:sldId id="277"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4803"/>
    <a:srgbClr val="814C05"/>
    <a:srgbClr val="CAC0B5"/>
    <a:srgbClr val="8AB2E2"/>
    <a:srgbClr val="2A66AC"/>
    <a:srgbClr val="75A4DD"/>
    <a:srgbClr val="2E6CB8"/>
    <a:srgbClr val="2A65AC"/>
    <a:srgbClr val="255997"/>
    <a:srgbClr val="337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howGuides="1">
      <p:cViewPr varScale="1">
        <p:scale>
          <a:sx n="78" d="100"/>
          <a:sy n="78" d="100"/>
        </p:scale>
        <p:origin x="1733" y="43"/>
      </p:cViewPr>
      <p:guideLst>
        <p:guide orient="horz" pos="2160"/>
        <p:guide pos="2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latin typeface="Times New Roman" panose="02020503050405090304" pitchFamily="18" charset="0"/>
            </a:endParaRPr>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latin typeface="Times New Roman" panose="02020503050405090304" pitchFamily="18" charset="0"/>
              </a:rPr>
              <a:t>5/8/2026</a:t>
            </a:fld>
            <a:endParaRPr lang="en-US" dirty="0">
              <a:latin typeface="Times New Roman" panose="02020503050405090304" pitchFamily="18" charset="0"/>
            </a:endParaRPr>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latin typeface="Times New Roman" panose="02020503050405090304" pitchFamily="18" charset="0"/>
              </a:rPr>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latin typeface="Times New Roman" panose="02020503050405090304" pitchFamily="18" charset="0"/>
              </a:rPr>
              <a:t>‹#›</a:t>
            </a:fld>
            <a:endParaRPr lang="en-US" dirty="0">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atin typeface="Times New Roman" panose="02020503050405090304" pitchFamily="18" charset="0"/>
              </a:defRPr>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atin typeface="Times New Roman" panose="02020503050405090304" pitchFamily="18" charset="0"/>
              </a:defRPr>
            </a:lvl1pPr>
          </a:lstStyle>
          <a:p>
            <a:fld id="{888BC1CF-45D5-4DEE-AAB8-8C5341844FC9}" type="datetimeFigureOut">
              <a:rPr lang="en-US" smtClean="0"/>
              <a:t>5/8/2026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atin typeface="Times New Roman" panose="02020503050405090304" pitchFamily="18" charset="0"/>
              </a:defRPr>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atin typeface="Times New Roman" panose="02020503050405090304" pitchFamily="18" charset="0"/>
              </a:defRPr>
            </a:lvl1pPr>
          </a:lstStyle>
          <a:p>
            <a:fld id="{C5A7523A-12D4-4E0F-9409-B3F845B48333}" type="slidenum">
              <a:rPr lang="en-US" smtClean="0"/>
              <a:t>‹#›</a:t>
            </a:fld>
            <a:endParaRPr 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imes New Roman" panose="02020503050405090304" pitchFamily="18" charset="0"/>
        <a:ea typeface="+mn-ea"/>
        <a:cs typeface="+mn-cs"/>
      </a:defRPr>
    </a:lvl1pPr>
    <a:lvl2pPr marL="457200" algn="l" defTabSz="914400" rtl="0" eaLnBrk="1" latinLnBrk="0" hangingPunct="1">
      <a:defRPr sz="1200" kern="1200">
        <a:solidFill>
          <a:schemeClr val="tx1"/>
        </a:solidFill>
        <a:latin typeface="Times New Roman" panose="02020503050405090304" pitchFamily="18" charset="0"/>
        <a:ea typeface="+mn-ea"/>
        <a:cs typeface="+mn-cs"/>
      </a:defRPr>
    </a:lvl2pPr>
    <a:lvl3pPr marL="914400" algn="l" defTabSz="914400" rtl="0" eaLnBrk="1" latinLnBrk="0" hangingPunct="1">
      <a:defRPr sz="1200" kern="1200">
        <a:solidFill>
          <a:schemeClr val="tx1"/>
        </a:solidFill>
        <a:latin typeface="Times New Roman" panose="02020503050405090304" pitchFamily="18" charset="0"/>
        <a:ea typeface="+mn-ea"/>
        <a:cs typeface="+mn-cs"/>
      </a:defRPr>
    </a:lvl3pPr>
    <a:lvl4pPr marL="1371600" algn="l" defTabSz="914400" rtl="0" eaLnBrk="1" latinLnBrk="0" hangingPunct="1">
      <a:defRPr sz="1200" kern="1200">
        <a:solidFill>
          <a:schemeClr val="tx1"/>
        </a:solidFill>
        <a:latin typeface="Times New Roman" panose="02020503050405090304" pitchFamily="18" charset="0"/>
        <a:ea typeface="+mn-ea"/>
        <a:cs typeface="+mn-cs"/>
      </a:defRPr>
    </a:lvl4pPr>
    <a:lvl5pPr marL="1828800" algn="l" defTabSz="914400" rtl="0" eaLnBrk="1" latinLnBrk="0" hangingPunct="1">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panose="020B060402020209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90204"/>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2950" lvl="1" indent="-285750">
              <a:lnSpc>
                <a:spcPct val="100000"/>
              </a:lnSpc>
              <a:spcBef>
                <a:spcPts val="560"/>
              </a:spcBef>
              <a:buClr>
                <a:srgbClr val="000000"/>
              </a:buClr>
              <a:buFont typeface="Arial" panose="020B0604020202090204"/>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7965">
              <a:lnSpc>
                <a:spcPct val="100000"/>
              </a:lnSpc>
              <a:spcBef>
                <a:spcPts val="480"/>
              </a:spcBef>
              <a:buClr>
                <a:srgbClr val="000000"/>
              </a:buClr>
              <a:buFont typeface="Arial" panose="020B0604020202090204"/>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50305040509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503050405090304"/>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lvl1pPr>
              <a:defRPr>
                <a:latin typeface="Times New Roman" panose="02020503050405090304" pitchFamily="18" charset="0"/>
              </a:defRPr>
            </a:lvl1pPr>
          </a:lstStyle>
          <a:p>
            <a:pPr algn="r"/>
            <a:fld id="{1CFDC92E-FF5D-4613-8499-B15BC16E50D9}" type="slidenum">
              <a:rPr lang="en-US" sz="1200" spc="-1" smtClean="0">
                <a:solidFill>
                  <a:srgbClr val="898989"/>
                </a:solidFill>
                <a:ea typeface="MS PGothic"/>
              </a:rPr>
              <a:t>‹#›</a:t>
            </a:fld>
            <a:endParaRPr lang="en-GB" sz="1200" spc="-1" dirty="0">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50305040509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Times New Roman" panose="02020503050405090304" pitchFamily="18"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panose="02020503050405090304" pitchFamily="18"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panose="02020503050405090304" pitchFamily="18"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3C316D-3D1E-E454-3FF5-5F3D7EEED11A}"/>
              </a:ext>
            </a:extLst>
          </p:cNvPr>
          <p:cNvSpPr txBox="1"/>
          <p:nvPr/>
        </p:nvSpPr>
        <p:spPr>
          <a:xfrm>
            <a:off x="0" y="1078078"/>
            <a:ext cx="9291484" cy="5375831"/>
          </a:xfrm>
          <a:prstGeom prst="rect">
            <a:avLst/>
          </a:prstGeom>
          <a:noFill/>
        </p:spPr>
        <p:txBody>
          <a:bodyPr wrap="square">
            <a:sp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8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400" dirty="0">
                <a:latin typeface="Times New Roman" panose="02020603050405020304" pitchFamily="18" charset="0"/>
                <a:ea typeface="Calibri" panose="020F0502020204030204" pitchFamily="34" charset="0"/>
                <a:cs typeface="Times New Roman" panose="02020603050405020304" pitchFamily="18" charset="0"/>
              </a:rPr>
              <a:t>Student Performance Prediction </a:t>
            </a:r>
          </a:p>
          <a:p>
            <a:pPr algn="ctr">
              <a:lnSpc>
                <a:spcPct val="100000"/>
              </a:lnSpc>
              <a:spcBef>
                <a:spcPts val="400"/>
              </a:spcBef>
            </a:pPr>
            <a:endParaRPr lang="en-US" sz="1800" i="1"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Name of Student</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1</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Khushi  (ID:22109901796)</a:t>
            </a:r>
            <a:endParaRPr lang="en-GB"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algn="ctr">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Name of Student</a:t>
            </a: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Mugdha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(ID:2210990585)</a:t>
            </a:r>
          </a:p>
          <a:p>
            <a:pPr algn="ctr">
              <a:spcBef>
                <a:spcPts val="400"/>
              </a:spcBef>
            </a:pP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Student3:</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Himanshi</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(ID: 2210990403)</a:t>
            </a:r>
          </a:p>
          <a:p>
            <a:pPr algn="ctr">
              <a:spcBef>
                <a:spcPts val="400"/>
              </a:spcBef>
            </a:pP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4</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Muskan (ID:22109901944)</a:t>
            </a:r>
            <a:br>
              <a:rPr lang="en-US" spc="-1" dirty="0">
                <a:solidFill>
                  <a:srgbClr val="000000"/>
                </a:solidFill>
                <a:latin typeface="Times New Roman" panose="02020503050405090304" pitchFamily="18" charset="0"/>
                <a:ea typeface="MS PGothic"/>
                <a:cs typeface="Times New Roman" panose="02020503050405090304" pitchFamily="18" charset="0"/>
              </a:rPr>
            </a:br>
            <a:endParaRPr lang="en-US" sz="18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8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spcBef>
                <a:spcPts val="400"/>
              </a:spcBef>
            </a:pP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Dr. Rajat </a:t>
            </a:r>
            <a:r>
              <a:rPr lang="en-US" altLang="en-US"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Takkar</a:t>
            </a:r>
            <a:endPar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p:txBody>
      </p:sp>
    </p:spTree>
    <p:extLst>
      <p:ext uri="{BB962C8B-B14F-4D97-AF65-F5344CB8AC3E}">
        <p14:creationId xmlns:p14="http://schemas.microsoft.com/office/powerpoint/2010/main" val="321178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b="1"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2</a:t>
            </a:fld>
            <a:endParaRPr lang="en-GB" sz="1200" b="0" strike="noStrike" spc="-1" dirty="0">
              <a:latin typeface="Times New Roman" panose="02020503050405090304"/>
            </a:endParaRPr>
          </a:p>
        </p:txBody>
      </p:sp>
      <p:sp>
        <p:nvSpPr>
          <p:cNvPr id="5" name="TextShape 2"/>
          <p:cNvSpPr txBox="1"/>
          <p:nvPr/>
        </p:nvSpPr>
        <p:spPr>
          <a:xfrm>
            <a:off x="233045" y="1217930"/>
            <a:ext cx="8743315" cy="5137785"/>
          </a:xfrm>
          <a:prstGeom prst="rect">
            <a:avLst/>
          </a:prstGeom>
          <a:noFill/>
          <a:ln w="9360">
            <a:noFill/>
          </a:ln>
        </p:spPr>
        <p:txBody>
          <a:bodyPr>
            <a:noAutofit/>
            <a:scene3d>
              <a:camera prst="orthographicFront"/>
              <a:lightRig rig="threePt" dir="t"/>
            </a:scene3d>
          </a:bodyPr>
          <a:lstStyle/>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This project presents an AI-based framework for analyzing, predicting, and visualizing student academic performance using machine learning techniques. Traditional evaluation methods are often manual, time-consuming, and unable to capture complex relationships between factors such as study hours, attendance, assignments, internal marks, and past academic performance. </a:t>
            </a:r>
          </a:p>
          <a:p>
            <a:pPr algn="l">
              <a:lnSpc>
                <a:spcPct val="100000"/>
              </a:lnSpc>
              <a:spcBef>
                <a:spcPts val="400"/>
              </a:spcBef>
            </a:pPr>
            <a:endPar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To overcome these limitations, the system uses Linear Regression to predict final scores and Decision Tree classification to categorize students as pass or fail. It also integrates data visualization techniques to clearly represent trends, patterns, and feature importance. By identifying at-risk students early and providing actionable insights, the framework helps educators make accurate, data-driven decisions and improves overall academic outcomes in an efficient, scalable, and interpretable manner.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46273" cy="914040"/>
          </a:xfrm>
        </p:spPr>
        <p:txBody>
          <a:bodyPr/>
          <a:lstStyle/>
          <a:p>
            <a:pPr algn="ctr"/>
            <a:r>
              <a:rPr lang="en-US" altLang="en-IN" sz="3200" b="1" dirty="0">
                <a:ea typeface="Calibri" panose="020F0502020204030204" pitchFamily="34" charset="0"/>
                <a:cs typeface="Times New Roman" panose="02020503050405090304" pitchFamily="18" charset="0"/>
              </a:rPr>
              <a:t>OBJECTIVE</a:t>
            </a:r>
          </a:p>
        </p:txBody>
      </p:sp>
      <p:sp>
        <p:nvSpPr>
          <p:cNvPr id="8" name="Text Box 7"/>
          <p:cNvSpPr txBox="1"/>
          <p:nvPr/>
        </p:nvSpPr>
        <p:spPr>
          <a:xfrm>
            <a:off x="240665" y="1366520"/>
            <a:ext cx="8703310" cy="4791075"/>
          </a:xfrm>
          <a:prstGeom prst="rect">
            <a:avLst/>
          </a:prstGeom>
          <a:noFill/>
        </p:spPr>
        <p:txBody>
          <a:bodyPr wrap="square" rtlCol="0">
            <a:noAutofit/>
          </a:bodyPr>
          <a:lstStyle/>
          <a:p>
            <a:pPr algn="l"/>
            <a:endParaRPr lang="en-US" altLang="en-US" sz="2000">
              <a:latin typeface="Times New Roman" panose="02020503050405090304" pitchFamily="18" charset="0"/>
              <a:cs typeface="Times New Roman" panose="02020503050405090304" pitchFamily="18" charset="0"/>
            </a:endParaRP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objective of this project is to design and develop an AI-based framework that analyzes and predicts student academic performance using machine learning techniques. It aims to identify key factors influencing performance, such as study hours, attendance, and internal marks, and use them to forecast final scores and classify students into pass or fail categories. </a:t>
            </a: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system also focuses on detecting at-risk students at an early stage and presenting insights through clear data visualizations. Ultimately, the goal is to support educators in making accurate, data-driven decisions and improving overall student learning outcomes efficiently.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452755" cy="914040"/>
          </a:xfrm>
        </p:spPr>
        <p:txBody>
          <a:bodyPr/>
          <a:lstStyle/>
          <a:p>
            <a:pPr algn="ctr"/>
            <a:r>
              <a:rPr lang="en-US" altLang="en-IN" sz="3200" b="1" dirty="0">
                <a:ea typeface="Calibri" panose="020F0502020204030204" pitchFamily="34" charset="0"/>
                <a:cs typeface="Times New Roman" panose="02020503050405090304" pitchFamily="18" charset="0"/>
              </a:rPr>
              <a:t>PROBLEM STATEMENT</a:t>
            </a:r>
          </a:p>
        </p:txBody>
      </p:sp>
      <p:sp>
        <p:nvSpPr>
          <p:cNvPr id="3" name="Text Box 2"/>
          <p:cNvSpPr txBox="1"/>
          <p:nvPr/>
        </p:nvSpPr>
        <p:spPr>
          <a:xfrm>
            <a:off x="175260" y="1503680"/>
            <a:ext cx="8759825" cy="4775835"/>
          </a:xfrm>
          <a:prstGeom prst="rect">
            <a:avLst/>
          </a:prstGeom>
          <a:noFill/>
        </p:spPr>
        <p:txBody>
          <a:bodyPr wrap="square" rtlCol="0">
            <a:noAutofit/>
          </a:bodyPr>
          <a:lstStyle/>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Traditional methods of evaluating student academic performance rely heavily on manual analysis of marks, attendance, and reports, which are time-consuming, prone to errors, and often fail to capture complex relationships between multiple influencing factors. </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These methods provide limited insights and do not support predictive analysis, making it difficult for educators to identify trends or take timely action. As a result, detecting at-risk students early and providing personalized academic support becomes challenging. With the increasing volume of educational data, there is a strong need for an intelligent, automated system that can efficiently analyze data, uncover hidden patterns, generate meaningful visualizations, and provide accurate predictions to enable proactive, data-driven decision-making in education.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15100" cy="914040"/>
          </a:xfrm>
        </p:spPr>
        <p:txBody>
          <a:bodyPr/>
          <a:lstStyle/>
          <a:p>
            <a:pPr algn="ctr"/>
            <a:r>
              <a:rPr lang="en-US" altLang="en-US" sz="3200" b="1" dirty="0">
                <a:ea typeface="Calibri" panose="020F0502020204030204" pitchFamily="34" charset="0"/>
                <a:cs typeface="Times New Roman" panose="02020503050405090304" pitchFamily="18" charset="0"/>
              </a:rPr>
              <a:t>METHODOLOGY</a:t>
            </a:r>
          </a:p>
        </p:txBody>
      </p:sp>
      <p:sp>
        <p:nvSpPr>
          <p:cNvPr id="3" name="Text Box 2"/>
          <p:cNvSpPr txBox="1"/>
          <p:nvPr/>
        </p:nvSpPr>
        <p:spPr>
          <a:xfrm>
            <a:off x="136525" y="1259840"/>
            <a:ext cx="8877300" cy="536448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The methodology of this project follows a data-driven machine learning approach to analyze and predict student academic performance. Initially, academic data is collected, including study hours, attendance, assignment marks, internal marks, and previous GPA. This data is then preprocessed to handle inconsistencies, missing values, and formatting issues to ensure accuracy.</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Next, Exploratory Data Analysis (EDA) is performed using visualizations to identify patterns and relationships between variables. Two machine learning models are then applied: Linear Regression for predicting final scores and Decision Tree Classification for categorizing students as pass or fail. The dataset is split into training and testing sets to evaluate model performance.</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Finally, the system integrates these models into a prediction module that provides final score predictions, pass/fail classification, and risk level analysis, enabling informed decision-making.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3536" cy="914040"/>
          </a:xfrm>
        </p:spPr>
        <p:txBody>
          <a:bodyPr/>
          <a:lstStyle/>
          <a:p>
            <a:pPr algn="ctr"/>
            <a:r>
              <a:rPr lang="en-IN" sz="3200" b="1" dirty="0">
                <a:ea typeface="Calibri" panose="020F0502020204030204" pitchFamily="34" charset="0"/>
                <a:cs typeface="Times New Roman" panose="02020503050405090304" pitchFamily="18" charset="0"/>
              </a:rPr>
              <a:t>     </a:t>
            </a:r>
            <a:r>
              <a:rPr lang="en-US" altLang="en-IN" sz="3200" b="1" dirty="0">
                <a:ea typeface="Calibri" panose="020F0502020204030204" pitchFamily="34" charset="0"/>
                <a:cs typeface="Times New Roman" panose="02020503050405090304" pitchFamily="18" charset="0"/>
              </a:rPr>
              <a:t>FEATURES </a:t>
            </a:r>
          </a:p>
        </p:txBody>
      </p:sp>
      <p:sp>
        <p:nvSpPr>
          <p:cNvPr id="5" name="Text Box 4"/>
          <p:cNvSpPr txBox="1"/>
          <p:nvPr/>
        </p:nvSpPr>
        <p:spPr>
          <a:xfrm>
            <a:off x="81915" y="913765"/>
            <a:ext cx="8799195" cy="5727065"/>
          </a:xfrm>
          <a:prstGeom prst="rect">
            <a:avLst/>
          </a:prstGeom>
          <a:noFill/>
        </p:spPr>
        <p:txBody>
          <a:bodyPr wrap="square" rtlCol="0">
            <a:noAutofit/>
          </a:bodyPr>
          <a:lstStyle/>
          <a:p>
            <a:pPr indent="0">
              <a:buFont typeface="Arial" panose="020B0604020202090204" pitchFamily="34" charset="0"/>
              <a:buNone/>
            </a:pPr>
            <a:endParaRPr lang="en-US" altLang="en-US" sz="2000">
              <a:latin typeface="Times New Roman" panose="02020503050405090304" pitchFamily="18" charset="0"/>
              <a:cs typeface="Times New Roman" panose="02020503050405090304" pitchFamily="18" charset="0"/>
            </a:endParaRP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1. AI-Based Performance Prediction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Uses machine learning models to accurately predict students’ final academic scores.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2. Dual Model Approach</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Combines Linear Regression (score prediction) and Decision Tree (pass/fail classification) for better reliability.</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3. Early Risk Detection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Identifies students at low, medium, and high risk, enabling timely intervention.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4. Data Visualization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Provides graphs and charts to clearly represent trends, patterns, and performance insights.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5. Multi-Factor Analysis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Considers multiple academic factors like study hours, attendance, assignments, internal marks, and GPA.</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6. Decision Support System</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Helps educators make data-driven decisions to improve student performance and outcomes.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t>     Technology Stack</a:t>
            </a:r>
          </a:p>
        </p:txBody>
      </p:sp>
      <p:sp>
        <p:nvSpPr>
          <p:cNvPr id="3" name="Text Box 2"/>
          <p:cNvSpPr txBox="1"/>
          <p:nvPr/>
        </p:nvSpPr>
        <p:spPr>
          <a:xfrm>
            <a:off x="169545" y="913765"/>
            <a:ext cx="8832215" cy="5975350"/>
          </a:xfrm>
          <a:prstGeom prst="rect">
            <a:avLst/>
          </a:prstGeom>
          <a:noFill/>
        </p:spPr>
        <p:txBody>
          <a:bodyPr wrap="square" rtlCol="0">
            <a:noAutofit/>
          </a:bodyPr>
          <a:lstStyle/>
          <a:p>
            <a:pPr indent="0">
              <a:lnSpc>
                <a:spcPct val="110000"/>
              </a:lnSpc>
              <a:buNone/>
            </a:pPr>
            <a:endParaRPr lang="en-US" altLang="en-US"/>
          </a:p>
        </p:txBody>
      </p:sp>
      <p:sp>
        <p:nvSpPr>
          <p:cNvPr id="4" name="Text Box 3"/>
          <p:cNvSpPr txBox="1"/>
          <p:nvPr/>
        </p:nvSpPr>
        <p:spPr>
          <a:xfrm>
            <a:off x="169545" y="1167765"/>
            <a:ext cx="8832215" cy="5368290"/>
          </a:xfrm>
          <a:prstGeom prst="rect">
            <a:avLst/>
          </a:prstGeom>
        </p:spPr>
        <p:txBody>
          <a:bodyPr wrap="square">
            <a:noAutofit/>
          </a:bodyPr>
          <a:lstStyle/>
          <a:p>
            <a:endParaRPr sz="2000">
              <a:latin typeface="Times New Roman" panose="02020503050405090304" pitchFamily="18" charset="0"/>
              <a:cs typeface="Times New Roman" panose="02020503050405090304" pitchFamily="18" charset="0"/>
            </a:endParaRPr>
          </a:p>
        </p:txBody>
      </p:sp>
      <p:pic>
        <p:nvPicPr>
          <p:cNvPr id="5" name="Picture 4" descr="Screenshot 2026-04-26 at 6.37.38 PM"/>
          <p:cNvPicPr>
            <a:picLocks noChangeAspect="1"/>
          </p:cNvPicPr>
          <p:nvPr/>
        </p:nvPicPr>
        <p:blipFill>
          <a:blip r:embed="rId2"/>
          <a:stretch>
            <a:fillRect/>
          </a:stretch>
        </p:blipFill>
        <p:spPr>
          <a:xfrm>
            <a:off x="311150" y="1403350"/>
            <a:ext cx="8521700" cy="40513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25491" cy="831273"/>
          </a:xfrm>
        </p:spPr>
        <p:txBody>
          <a:bodyPr/>
          <a:lstStyle/>
          <a:p>
            <a:pPr algn="ctr"/>
            <a:r>
              <a:rPr lang="en-US" altLang="en-IN" sz="3200" b="1" dirty="0">
                <a:ea typeface="Calibri" panose="020F0502020204030204" pitchFamily="34" charset="0"/>
                <a:cs typeface="Times New Roman" panose="02020503050405090304" pitchFamily="18" charset="0"/>
              </a:rPr>
              <a:t>OUTCOMES</a:t>
            </a:r>
          </a:p>
        </p:txBody>
      </p:sp>
      <p:sp>
        <p:nvSpPr>
          <p:cNvPr id="4" name="Rectangle 1"/>
          <p:cNvSpPr>
            <a:spLocks noGrp="1" noChangeArrowheads="1"/>
          </p:cNvSpPr>
          <p:nvPr>
            <p:ph type="subTitle"/>
          </p:nvPr>
        </p:nvSpPr>
        <p:spPr bwMode="auto">
          <a:xfrm>
            <a:off x="207645" y="999490"/>
            <a:ext cx="8728710" cy="562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Accurate Score Prediction — Linear Regression model successfully predicted final academic scores with ~85% accuracy, showing strong correlation with input features.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Pass/Fail Classification — Decision Tree Classifier effectively categorized students into Pass (56%) and Fail (44%) groups with reliable interpretable decision rules.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At-Risk Student Identification — Students classified into three risk levels (Low, Medium, High) based on predicted scores, enabling early educator intervention.</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Meaningful Visualisations — Bar plots, pie charts, and attendance impact graphs revealed clear performance trends across the student dataset.</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Balanced Dataset Advantage — Near-equal Pass/Fail distribution ensured unbiased model training, improving classification reliability.</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Scalable &amp; Interpretable Framework — The system is designed to be educator-friendly, explainable, and extendable to larger real-world datasets.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7" presetClass="entr" presetSubtype="0" fill="hold" nodeType="after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7" presetClass="entr" presetSubtype="0" fill="hold" nodeType="after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0"/>
            <a:ext cx="5486040" cy="914040"/>
          </a:xfrm>
        </p:spPr>
        <p:txBody>
          <a:bodyPr/>
          <a:lstStyle/>
          <a:p>
            <a:r>
              <a:rPr lang="en-US" b="1">
                <a:cs typeface="Times New Roman" panose="02020503050405090304" pitchFamily="18" charset="0"/>
              </a:rPr>
              <a:t>          </a:t>
            </a:r>
            <a:r>
              <a:rPr lang="en-US" sz="3200" b="1">
                <a:cs typeface="Times New Roman" panose="02020503050405090304" pitchFamily="18" charset="0"/>
              </a:rPr>
              <a:t>FUTURE SCOPE</a:t>
            </a:r>
          </a:p>
        </p:txBody>
      </p:sp>
      <p:sp>
        <p:nvSpPr>
          <p:cNvPr id="3" name="Subtitle 2"/>
          <p:cNvSpPr>
            <a:spLocks noGrp="1"/>
          </p:cNvSpPr>
          <p:nvPr>
            <p:ph type="subTitle"/>
          </p:nvPr>
        </p:nvSpPr>
        <p:spPr>
          <a:xfrm>
            <a:off x="259715" y="1134745"/>
            <a:ext cx="8750300" cy="5481955"/>
          </a:xfrm>
        </p:spPr>
        <p:txBody>
          <a:bodyPr/>
          <a:lstStyle/>
          <a:p>
            <a:r>
              <a:rPr lang="en-US" altLang="en-US" sz="2000"/>
              <a:t>Larger Real-World Datasets — Apply the framework on actual institutional data for improved prediction accuracy across diverse educational settings.</a:t>
            </a:r>
          </a:p>
          <a:p>
            <a:r>
              <a:rPr lang="en-US" altLang="en-US" sz="2000"/>
              <a:t>Advanced Algorithms — Integrate models like Random Forest, Neural Networks, or XGBoost for higher accuracy and better generalization.</a:t>
            </a:r>
          </a:p>
          <a:p>
            <a:r>
              <a:rPr lang="en-US" altLang="en-US" sz="2000"/>
              <a:t>Non-Academic Factors — Include psychological, socio-economic, and personal factors to build a more holistic student performance model.</a:t>
            </a:r>
          </a:p>
          <a:p>
            <a:r>
              <a:rPr lang="en-US" altLang="en-US" sz="2000"/>
              <a:t>Live Deployment — Convert the system into a real-time web or mobile application accessible directly by educators and students.</a:t>
            </a:r>
          </a:p>
          <a:p>
            <a:r>
              <a:rPr lang="en-US" altLang="en-US" sz="2000"/>
              <a:t>Personalized Interventions — Generate student-specific recommendations and study plans based on predicted risk levels.</a:t>
            </a:r>
          </a:p>
          <a:p>
            <a:r>
              <a:rPr lang="en-US" altLang="en-US" sz="2000"/>
              <a:t>Multi-Institutional Scalability — Expand the framework across multiple universities and course types for broader applicability.</a:t>
            </a:r>
          </a:p>
          <a:p>
            <a:r>
              <a:rPr lang="en-US" altLang="en-US" sz="2000"/>
              <a:t>Deep Learning Integration — Leverage deep learning for pattern recognition in complex, large-scale educational datasets.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4709" cy="852055"/>
          </a:xfrm>
        </p:spPr>
        <p:txBody>
          <a:bodyPr/>
          <a:lstStyle/>
          <a:p>
            <a:pPr algn="ctr"/>
            <a:r>
              <a:rPr lang="en-US" altLang="en-IN" sz="3200" b="1" dirty="0">
                <a:ea typeface="Calibri" panose="020F0502020204030204" pitchFamily="34" charset="0"/>
                <a:cs typeface="Times New Roman" panose="02020503050405090304" pitchFamily="18" charset="0"/>
              </a:rPr>
              <a:t>CONCLUSION </a:t>
            </a:r>
            <a:endParaRPr lang="en-IN" sz="3200" b="1" dirty="0">
              <a:ea typeface="Calibri" panose="020F0502020204030204" pitchFamily="34" charset="0"/>
              <a:cs typeface="Times New Roman" panose="02020503050405090304" pitchFamily="18" charset="0"/>
            </a:endParaRPr>
          </a:p>
        </p:txBody>
      </p:sp>
      <p:sp>
        <p:nvSpPr>
          <p:cNvPr id="4" name="Text Box 3"/>
          <p:cNvSpPr txBox="1"/>
          <p:nvPr/>
        </p:nvSpPr>
        <p:spPr>
          <a:xfrm>
            <a:off x="141605" y="1171575"/>
            <a:ext cx="8888730" cy="504317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This project successfully developed an AI-Based Framework for Academic Performance Visualisation using machine learning techniques. By analyzing key academic factors — study hours, attendance, assignment scores, internal marks, and past GPA — the system accurately predicts student outcomes and identifies at-risk learners.</a:t>
            </a:r>
          </a:p>
          <a:p>
            <a:r>
              <a:rPr lang="en-US" altLang="en-US" sz="2000">
                <a:latin typeface="Times New Roman" panose="02020503050405090304" pitchFamily="18" charset="0"/>
                <a:cs typeface="Times New Roman" panose="02020503050405090304" pitchFamily="18" charset="0"/>
              </a:rPr>
              <a:t>The Linear Regression model predicted final scores with ~85% accuracy, while the Decision Tree Classifier effectively categorized students as Pass or Fail. Feature importance analysis confirmed that attendance, study hours, and internal marks are the strongest predictors of academic success.</a:t>
            </a:r>
          </a:p>
          <a:p>
            <a:r>
              <a:rPr lang="en-US" altLang="en-US" sz="2000">
                <a:latin typeface="Times New Roman" panose="02020503050405090304" pitchFamily="18" charset="0"/>
                <a:cs typeface="Times New Roman" panose="02020503050405090304" pitchFamily="18" charset="0"/>
              </a:rPr>
              <a:t>The visualisation tools further simplified complex data into clear, actionable trends for educators. Despite limitations of a small synthetic dataset, the framework proves that AI can meaningfully support data-driven decision-making in education — enabling timely interventions and improved student outcomes overall.</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12723" y="2723606"/>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503050405090304" pitchFamily="18" charset="0"/>
                <a:cs typeface="Times New Roman" panose="02020503050405090304" pitchFamily="18" charset="0"/>
              </a:rPr>
              <a:t>Thank You</a:t>
            </a:r>
            <a:endParaRPr lang="en-US" sz="5400" b="0" strike="noStrike" spc="-1" dirty="0">
              <a:solidFill>
                <a:srgbClr val="000000"/>
              </a:solidFill>
              <a:latin typeface="Times New Roman" panose="02020503050405090304" pitchFamily="18" charset="0"/>
              <a:cs typeface="Times New Roman" panose="0202050305040509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11</a:t>
            </a:fld>
            <a:endParaRPr lang="en-GB" sz="1200" b="0" strike="noStrike" spc="-1" dirty="0">
              <a:latin typeface="Times New Roman" panose="020205030504050903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ma:contentTypeDescription="Create a new document." ma:contentTypeID="0x010100096F1BF43DDE004485E7A868D137D60A" ma:contentTypeVersion="0" ma:contentTypeName="Document" ct:_="" ma:_="" ma:contentTypeScope="" ma:versionID="47fff7f98a9c49c088ba096c14cf4458">
  <xsd:schema xmlns:xsd="http://www.w3.org/2001/XMLSchema" xmlns:p="http://schemas.microsoft.com/office/2006/metadata/properties" xmlns:xs="http://www.w3.org/2001/XMLSchema" ma:fieldsID="c05e9f2c4932a6a674126b9dde7716ea" ma:root="true" targetNamespace="http://schemas.microsoft.com/office/2006/metadata/properties">
    <xsd:element name="properties">
      <xsd:complexType>
        <xsd:sequence>
          <xsd:element name="documentManagement">
            <xsd:complexType>
              <xsd:all/>
            </xsd:complexType>
          </xsd:element>
        </xsd:sequence>
      </xsd:complexType>
    </xsd:element>
  </xsd:schema>
  <xsd:schema xmlns="http://schemas.openxmlformats.org/package/2006/metadata/core-properties" xmlns:dc="http://purl.org/dc/elements/1.1/" xmlns:xsd="http://www.w3.org/2001/XMLSchema" xmlns:dcterms="http://purl.org/dc/terms/" xmlns:odoc="http://schemas.microsoft.com/internal/obd" xmlns:xsi="http://www.w3.org/2001/XMLSchema-instance" blockDefault="#all" attributeFormDefault="unqualified"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inOccurs="0"/>
        <xsd:element ref="dcterms:created" maxOccurs="1" minOccurs="0"/>
        <xsd:element ref="dc:identifier" maxOccurs="1" minOccurs="0"/>
        <xsd:element ma:index="0" name="contentType" maxOccurs="1" minOccurs="0" ma:displayName="Content Type" type="xsd:string"/>
        <xsd:element ma:index="4" ref="dc:title" maxOccurs="1" minOccurs="0" ma:displayName="Title"/>
        <xsd:element ref="dc:subject" maxOccurs="1" minOccurs="0"/>
        <xsd:element ref="dc:description" maxOccurs="1" minOccurs="0"/>
        <xsd:element name="keywords" maxOccurs="1" minOccurs="0" type="xsd:string"/>
        <xsd:element ref="dc:language" maxOccurs="1" minOccurs="0"/>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ref="dcterms:modified" maxOccurs="1" minOccurs="0"/>
        <xsd:element name="contentStatus" maxOccurs="1" minOccurs="0" type="xsd:string"/>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c="http://schemas.microsoft.com/office/infopath/2007/PartnerControl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14</TotalTime>
  <Words>1167</Words>
  <Application>Microsoft Office PowerPoint</Application>
  <PresentationFormat>On-screen Show (4:3)</PresentationFormat>
  <Paragraphs>74</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OBJECTIVE</vt:lpstr>
      <vt:lpstr>PROBLEM STATEMENT</vt:lpstr>
      <vt:lpstr>METHODOLOGY</vt:lpstr>
      <vt:lpstr>     FEATURES </vt:lpstr>
      <vt:lpstr>     Technology Stack</vt:lpstr>
      <vt:lpstr>OUTCOMES</vt:lpstr>
      <vt:lpstr>          FUTURE SCOPE</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KHUSHI DAWAR</cp:lastModifiedBy>
  <cp:revision>2315</cp:revision>
  <dcterms:created xsi:type="dcterms:W3CDTF">2026-04-26T13:14:51Z</dcterms:created>
  <dcterms:modified xsi:type="dcterms:W3CDTF">2026-05-08T12:31:39Z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C121D77F4A44FE7ECB0FEE6925ED7FD4_43</vt:lpwstr>
  </property>
  <property fmtid="{D5CDD505-2E9C-101B-9397-08002B2CF9AE}" pid="15" name="KSOProductBuildVer">
    <vt:lpwstr>1033-12.1.23155.23155</vt:lpwstr>
  </property>
</Properties>
</file>